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8" r:id="rId3"/>
    <p:sldId id="262" r:id="rId4"/>
    <p:sldId id="261" r:id="rId5"/>
    <p:sldId id="25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76"/>
    <p:restoredTop sz="87438"/>
  </p:normalViewPr>
  <p:slideViewPr>
    <p:cSldViewPr snapToGrid="0">
      <p:cViewPr varScale="1">
        <p:scale>
          <a:sx n="90" d="100"/>
          <a:sy n="90" d="100"/>
        </p:scale>
        <p:origin x="11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3B1B45-1193-A746-96B4-4C75327EB959}" type="datetimeFigureOut">
              <a:rPr lang="en-US" smtClean="0"/>
              <a:t>8/16/26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B5F9FD-34E2-F24D-B264-785DF60403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2670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Guidelines do not start from raw patient records; they start from predefined contexts. </a:t>
            </a:r>
            <a:r>
              <a:rPr lang="en-US" altLang="zh-CN" dirty="0"/>
              <a:t>Doctors</a:t>
            </a:r>
            <a:r>
              <a:rPr lang="en-US" dirty="0"/>
              <a:t> must determine which context fits, what remains unknown, and how that state changes after each</a:t>
            </a:r>
            <a:r>
              <a:rPr lang="zh-CN" altLang="en-US" dirty="0"/>
              <a:t> </a:t>
            </a:r>
            <a:r>
              <a:rPr lang="en-US" altLang="zh-CN" dirty="0"/>
              <a:t>newly-arrived</a:t>
            </a:r>
            <a:r>
              <a:rPr lang="zh-CN" altLang="en-US" dirty="0"/>
              <a:t> </a:t>
            </a:r>
            <a:r>
              <a:rPr lang="en-US" dirty="0"/>
              <a:t>result. Deviation is one visible signal that this bridge is not represented. Our question is what part of that bridge can be recovered from longitudinal clinical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B5F9FD-34E2-F24D-B264-785DF604037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81233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B5F9FD-34E2-F24D-B264-785DF604037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8049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600" dirty="0"/>
              <a:t>A frames the problem; Q specifies what evidence must resolve; C tracks what has actually been resolved. New evidence updates this state, which then changes the guideline-context match.</a:t>
            </a:r>
          </a:p>
          <a:p>
            <a:r>
              <a:rPr lang="en-US" sz="1600" dirty="0"/>
              <a:t>A/Q/C describes the epistemic state transition; context transition is its downstream consequence.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B5F9FD-34E2-F24D-B264-785DF604037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91735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37C0D-BC77-97DD-708E-BF9E58F1D5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6A8E92-3388-A6AA-229C-9C5282AC58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C49D1D-EF16-0140-D7C3-A5B217692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849FF-756A-274F-8B03-B3DCAF19C34B}" type="datetimeFigureOut">
              <a:rPr lang="en-US" smtClean="0"/>
              <a:t>8/16/26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CFF815-5CB3-0BF5-D892-4E8C82592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150343-ED91-18BA-6953-7790A2B06A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59748-8B0B-5941-9D27-A13797310E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79963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519B51-51BF-B2C5-4B23-932C030F59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7077B9-8D7F-E4D0-21EA-EBEFC836A8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FDBA4C-396B-21FA-496A-8FBA5A98B7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849FF-756A-274F-8B03-B3DCAF19C34B}" type="datetimeFigureOut">
              <a:rPr lang="en-US" smtClean="0"/>
              <a:t>8/16/26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54D79B-F5AE-2C47-C421-F5234B7AE0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0E1391-8563-F49D-1B24-1E038CC30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59748-8B0B-5941-9D27-A13797310E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48313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800E42-274C-072A-2A22-656C4C8E3A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A8586A-CDA4-CDD1-28A0-1929436146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3369E7-8F26-4353-E4E0-024647D4A3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849FF-756A-274F-8B03-B3DCAF19C34B}" type="datetimeFigureOut">
              <a:rPr lang="en-US" smtClean="0"/>
              <a:t>8/16/26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8AB570-9021-DC67-6D15-E5C8F8E280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111A3B-C601-417B-EE13-6D9B42DAC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59748-8B0B-5941-9D27-A13797310E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8339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274A41-A552-6B16-4E89-7226FBC28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1D90BF-CC92-FE44-5914-2E3EB9CD72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473C38-357C-F779-EE9A-E171961C6D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C0597A-9DF4-6CE3-ADD2-5FEBCF5A77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849FF-756A-274F-8B03-B3DCAF19C34B}" type="datetimeFigureOut">
              <a:rPr lang="en-US" smtClean="0"/>
              <a:t>8/16/26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A4945B-410C-FEB8-75D2-E728D8BA34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EF131D-1525-9AFE-61BC-ABDF8FE4F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59748-8B0B-5941-9D27-A13797310E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53493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7E3347-83AA-24DB-C389-F685110D85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BF46BE-B5DC-05D9-2FDC-AE2754856E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5846F4-2B5B-E04C-690C-AAF6040D18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79D8E9E-DDC3-49FF-CA6A-4AD3943F78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23392D-2641-4D1E-058B-3EBCB58EFD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5154521-4096-404A-DABD-DF0AECC26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849FF-756A-274F-8B03-B3DCAF19C34B}" type="datetimeFigureOut">
              <a:rPr lang="en-US" smtClean="0"/>
              <a:t>8/16/26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18397BD-E767-4DC0-D342-19A033D1A9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97280EA-F066-44A3-FB8A-3C53A2B0B4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59748-8B0B-5941-9D27-A13797310E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36645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698564-816E-9D79-DB93-33DF81222A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EF4871-CA13-91E1-4888-D2DE7C0C0F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849FF-756A-274F-8B03-B3DCAF19C34B}" type="datetimeFigureOut">
              <a:rPr lang="en-US" smtClean="0"/>
              <a:t>8/16/26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41E98E-A487-DB62-427A-7B69420D5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D44B1E-928F-EEE6-66C4-1A74E70EF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59748-8B0B-5941-9D27-A13797310E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4458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C1719E3-D629-8C9C-EC59-8CAC86E4C8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849FF-756A-274F-8B03-B3DCAF19C34B}" type="datetimeFigureOut">
              <a:rPr lang="en-US" smtClean="0"/>
              <a:t>8/16/26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5A50A84-968E-A4E1-4F07-FE88C1B2C8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CE8D27-A553-A438-2E17-220CC9C94B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59748-8B0B-5941-9D27-A13797310E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07033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4DBCE8-F310-CCF0-82C3-CE2DD3CA72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661A1E-8000-99BE-6FD6-432369DC63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B7F466-EEA8-1328-851C-D23F3B1908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CE4404-92DB-76B8-53F1-0DA5F904AD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849FF-756A-274F-8B03-B3DCAF19C34B}" type="datetimeFigureOut">
              <a:rPr lang="en-US" smtClean="0"/>
              <a:t>8/16/26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90B4A2-5B2A-6A12-F2B3-779ECC0E5F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994B05-CD41-26D7-C29A-B104FCAC6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59748-8B0B-5941-9D27-A13797310E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45468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8B684A-8278-8374-9434-3967F5F72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18DC38D-604A-7514-039B-6A8D6C9F47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8293F3-7916-7404-9A6B-72AA957C5B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3B5221-25D3-89A8-B498-974A595256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849FF-756A-274F-8B03-B3DCAF19C34B}" type="datetimeFigureOut">
              <a:rPr lang="en-US" smtClean="0"/>
              <a:t>8/16/26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A3B486-732A-AE19-C644-BF454E2EFC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BD962-9F36-47D0-09CC-503A2AA18D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59748-8B0B-5941-9D27-A13797310E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53964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66BA5-D87F-03D1-967F-F2247D28BE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0571C0-D7C4-49EB-B2B7-A19CCA5E54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F6F5B8-107D-AC5E-376C-3139F483C2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849FF-756A-274F-8B03-B3DCAF19C34B}" type="datetimeFigureOut">
              <a:rPr lang="en-US" smtClean="0"/>
              <a:t>8/16/26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140D4B-F0E9-EA12-94E6-20F018A08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416990-4B84-17A3-2823-7D1D97C41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59748-8B0B-5941-9D27-A13797310E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71064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E7DCFD5-C329-57F3-C17D-EF42E237AD7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3999F3-5788-8024-97DB-BA1E8C0BA8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6BEA86-B4B8-2739-0014-876CBCD615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849FF-756A-274F-8B03-B3DCAF19C34B}" type="datetimeFigureOut">
              <a:rPr lang="en-US" smtClean="0"/>
              <a:t>8/16/26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EFCF56-40B1-17FF-5196-AA9C0FBCD0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43E46F-23A4-71D2-040D-AADEE5ECE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59748-8B0B-5941-9D27-A13797310E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45413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80D98F2-C49F-FE1E-03DF-D5A4D66423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8FB7AA-35BC-F502-53CF-A298881C50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6454F8-6109-EBD9-CA5B-E0776DCBEC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4849FF-756A-274F-8B03-B3DCAF19C34B}" type="datetimeFigureOut">
              <a:rPr lang="en-US" smtClean="0"/>
              <a:t>8/16/26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EFA245-F84B-5ED8-9DAB-E2958D166D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DDAD84-4ACD-5BB6-3C41-5F1900E31D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B59748-8B0B-5941-9D27-A13797310E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36504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FBD7F5-B9E2-2063-B6E8-C49BC883E8E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3FCC07-A364-87DD-B0F8-C0BCEE54E51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67847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CCF0CE-7A20-67BF-D4E3-503CCAB03F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364" y="363561"/>
            <a:ext cx="11140440" cy="1325563"/>
          </a:xfrm>
        </p:spPr>
        <p:txBody>
          <a:bodyPr/>
          <a:lstStyle/>
          <a:p>
            <a:r>
              <a:rPr lang="en-US" altLang="zh-CN" dirty="0"/>
              <a:t>Deviation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signal</a:t>
            </a:r>
            <a:r>
              <a:rPr lang="zh-CN" altLang="en-US" dirty="0"/>
              <a:t> </a:t>
            </a:r>
            <a:r>
              <a:rPr lang="en-US" altLang="zh-CN" dirty="0"/>
              <a:t>–</a:t>
            </a:r>
            <a:r>
              <a:rPr lang="zh-CN" altLang="en-US" dirty="0"/>
              <a:t> </a:t>
            </a:r>
            <a:r>
              <a:rPr lang="en-US" altLang="zh-CN" dirty="0"/>
              <a:t>not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underlying</a:t>
            </a:r>
            <a:r>
              <a:rPr lang="zh-CN" altLang="en-US" dirty="0"/>
              <a:t> </a:t>
            </a:r>
            <a:r>
              <a:rPr lang="en-US" altLang="zh-CN" dirty="0"/>
              <a:t>problem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01C6F6-C8DA-0204-ED8D-DA458837FA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944983"/>
            <a:ext cx="10515600" cy="2231980"/>
          </a:xfrm>
        </p:spPr>
        <p:txBody>
          <a:bodyPr>
            <a:normAutofit/>
          </a:bodyPr>
          <a:lstStyle/>
          <a:p>
            <a:r>
              <a:rPr lang="en-US" altLang="zh-CN" b="1" dirty="0"/>
              <a:t>Intuition</a:t>
            </a:r>
            <a:r>
              <a:rPr lang="en-US" altLang="zh-CN" dirty="0"/>
              <a:t>:</a:t>
            </a:r>
            <a:r>
              <a:rPr lang="zh-CN" altLang="en-US" dirty="0"/>
              <a:t> </a:t>
            </a:r>
            <a:r>
              <a:rPr lang="en-US" altLang="zh-CN" dirty="0"/>
              <a:t>Guideline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book</a:t>
            </a:r>
            <a:r>
              <a:rPr lang="zh-CN" altLang="en-US" dirty="0"/>
              <a:t> </a:t>
            </a:r>
            <a:r>
              <a:rPr lang="en-US" altLang="zh-CN" dirty="0"/>
              <a:t>indexed</a:t>
            </a:r>
            <a:r>
              <a:rPr lang="zh-CN" altLang="en-US" dirty="0"/>
              <a:t> </a:t>
            </a:r>
            <a:r>
              <a:rPr lang="en-US" altLang="zh-CN" dirty="0"/>
              <a:t>by</a:t>
            </a:r>
            <a:r>
              <a:rPr lang="zh-CN" altLang="en-US" dirty="0"/>
              <a:t> </a:t>
            </a:r>
            <a:r>
              <a:rPr lang="en-US" altLang="zh-CN" dirty="0"/>
              <a:t>clean</a:t>
            </a:r>
            <a:r>
              <a:rPr lang="zh-CN" altLang="en-US" dirty="0"/>
              <a:t> </a:t>
            </a:r>
            <a:r>
              <a:rPr lang="en-US" altLang="zh-CN" dirty="0"/>
              <a:t>clinical</a:t>
            </a:r>
            <a:r>
              <a:rPr lang="zh-CN" altLang="en-US" dirty="0"/>
              <a:t> </a:t>
            </a:r>
            <a:r>
              <a:rPr lang="en-US" altLang="zh-CN" dirty="0"/>
              <a:t>scenarios</a:t>
            </a:r>
            <a:r>
              <a:rPr lang="zh-CN" altLang="en-US" dirty="0"/>
              <a:t> </a:t>
            </a:r>
            <a:r>
              <a:rPr lang="en-US" altLang="zh-CN" dirty="0"/>
              <a:t>(context)</a:t>
            </a:r>
            <a:r>
              <a:rPr lang="zh-CN" altLang="en-US" dirty="0"/>
              <a:t> </a:t>
            </a:r>
            <a:r>
              <a:rPr lang="en-US" altLang="zh-CN" dirty="0"/>
              <a:t>–</a:t>
            </a:r>
            <a:r>
              <a:rPr lang="zh-CN" altLang="en-US" dirty="0"/>
              <a:t> </a:t>
            </a:r>
            <a:r>
              <a:rPr lang="en-US" altLang="zh-CN" dirty="0"/>
              <a:t>but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patient</a:t>
            </a:r>
            <a:r>
              <a:rPr lang="zh-CN" altLang="en-US" dirty="0"/>
              <a:t> </a:t>
            </a:r>
            <a:r>
              <a:rPr lang="en-US" altLang="zh-CN" dirty="0"/>
              <a:t>doesn’t</a:t>
            </a:r>
            <a:r>
              <a:rPr lang="zh-CN" altLang="en-US" dirty="0"/>
              <a:t> </a:t>
            </a:r>
            <a:r>
              <a:rPr lang="en-US" altLang="zh-CN" dirty="0"/>
              <a:t>arrive</a:t>
            </a:r>
            <a:r>
              <a:rPr lang="zh-CN" altLang="en-US" dirty="0"/>
              <a:t> </a:t>
            </a:r>
            <a:r>
              <a:rPr lang="en-US" altLang="zh-CN" dirty="0"/>
              <a:t>with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page</a:t>
            </a:r>
            <a:r>
              <a:rPr lang="zh-CN" altLang="en-US" dirty="0"/>
              <a:t> </a:t>
            </a:r>
            <a:r>
              <a:rPr lang="en-US" altLang="zh-CN" dirty="0"/>
              <a:t>number</a:t>
            </a:r>
          </a:p>
          <a:p>
            <a:r>
              <a:rPr lang="en-US" altLang="zh-CN" b="1" dirty="0"/>
              <a:t>Research</a:t>
            </a:r>
            <a:r>
              <a:rPr lang="zh-CN" altLang="en-US" dirty="0"/>
              <a:t> </a:t>
            </a:r>
            <a:r>
              <a:rPr lang="en-US" altLang="zh-CN" b="1" dirty="0"/>
              <a:t>Question</a:t>
            </a:r>
            <a:r>
              <a:rPr lang="en-US" altLang="zh-CN" dirty="0"/>
              <a:t>:</a:t>
            </a:r>
            <a:br>
              <a:rPr lang="en-US" altLang="zh-CN" dirty="0"/>
            </a:br>
            <a:r>
              <a:rPr lang="en-US" dirty="0"/>
              <a:t>What </a:t>
            </a:r>
            <a:r>
              <a:rPr lang="en-US" altLang="zh-CN" dirty="0"/>
              <a:t>can</a:t>
            </a:r>
            <a:r>
              <a:rPr lang="zh-CN" altLang="en-US" dirty="0"/>
              <a:t> </a:t>
            </a:r>
            <a:r>
              <a:rPr lang="en-US" dirty="0"/>
              <a:t>longitudinal clinical data suc</a:t>
            </a:r>
            <a:r>
              <a:rPr lang="en-US" altLang="zh-CN" dirty="0"/>
              <a:t>h</a:t>
            </a:r>
            <a:r>
              <a:rPr lang="zh-CN" altLang="en-US" dirty="0"/>
              <a:t> </a:t>
            </a:r>
            <a:r>
              <a:rPr lang="en-US" altLang="zh-CN" dirty="0"/>
              <a:t>as</a:t>
            </a:r>
            <a:r>
              <a:rPr lang="en-US" dirty="0"/>
              <a:t> MIMIC </a:t>
            </a:r>
            <a:r>
              <a:rPr lang="en-US" altLang="zh-CN" dirty="0"/>
              <a:t>reveal</a:t>
            </a:r>
            <a:r>
              <a:rPr lang="zh-CN" altLang="en-US" dirty="0"/>
              <a:t> </a:t>
            </a:r>
            <a:r>
              <a:rPr lang="en-US" altLang="zh-CN" dirty="0"/>
              <a:t>about</a:t>
            </a:r>
            <a:r>
              <a:rPr lang="zh-CN" altLang="en-US" dirty="0"/>
              <a:t> </a:t>
            </a:r>
            <a:r>
              <a:rPr lang="en-US" altLang="zh-CN" dirty="0"/>
              <a:t>this</a:t>
            </a:r>
            <a:r>
              <a:rPr lang="zh-CN" altLang="en-US" dirty="0"/>
              <a:t> </a:t>
            </a:r>
            <a:r>
              <a:rPr lang="en-US" altLang="zh-CN" dirty="0"/>
              <a:t>missing</a:t>
            </a:r>
            <a:r>
              <a:rPr lang="zh-CN" altLang="en-US" dirty="0"/>
              <a:t> </a:t>
            </a:r>
            <a:r>
              <a:rPr lang="en-US" altLang="zh-CN" dirty="0"/>
              <a:t>middle</a:t>
            </a:r>
            <a:r>
              <a:rPr lang="en-US" dirty="0"/>
              <a:t>?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D0696A-DCD4-16AF-BFAA-8B5EA1F40913}"/>
              </a:ext>
            </a:extLst>
          </p:cNvPr>
          <p:cNvSpPr txBox="1"/>
          <p:nvPr/>
        </p:nvSpPr>
        <p:spPr>
          <a:xfrm>
            <a:off x="1571773" y="2197377"/>
            <a:ext cx="23416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/>
              <a:t>REAL</a:t>
            </a:r>
            <a:r>
              <a:rPr lang="zh-CN" altLang="en-US" sz="2800" dirty="0"/>
              <a:t> </a:t>
            </a:r>
            <a:r>
              <a:rPr lang="en-US" altLang="zh-CN" sz="2800" dirty="0"/>
              <a:t>PATIENT</a:t>
            </a:r>
            <a:endParaRPr lang="en-US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F235D4-64C7-906A-EB07-81F4BAA42B04}"/>
              </a:ext>
            </a:extLst>
          </p:cNvPr>
          <p:cNvSpPr txBox="1"/>
          <p:nvPr/>
        </p:nvSpPr>
        <p:spPr>
          <a:xfrm>
            <a:off x="8586528" y="2191798"/>
            <a:ext cx="19511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/>
              <a:t>GUIDELINE</a:t>
            </a:r>
            <a:endParaRPr lang="en-US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2FF0242-E129-84DB-D907-5B24CB5475EA}"/>
              </a:ext>
            </a:extLst>
          </p:cNvPr>
          <p:cNvCxnSpPr>
            <a:cxnSpLocks/>
          </p:cNvCxnSpPr>
          <p:nvPr/>
        </p:nvCxnSpPr>
        <p:spPr>
          <a:xfrm>
            <a:off x="4223533" y="2453408"/>
            <a:ext cx="3762103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6A6F73EF-6F58-F65A-3E1A-75631B95B342}"/>
              </a:ext>
            </a:extLst>
          </p:cNvPr>
          <p:cNvSpPr txBox="1"/>
          <p:nvPr/>
        </p:nvSpPr>
        <p:spPr>
          <a:xfrm>
            <a:off x="5015415" y="1958134"/>
            <a:ext cx="25090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MISSING</a:t>
            </a:r>
            <a:r>
              <a:rPr lang="zh-CN" altLang="en-US" sz="2400" dirty="0">
                <a:solidFill>
                  <a:srgbClr val="FF0000"/>
                </a:solidFill>
              </a:rPr>
              <a:t> </a:t>
            </a:r>
            <a:r>
              <a:rPr lang="en-US" altLang="zh-CN" sz="2400" dirty="0">
                <a:solidFill>
                  <a:srgbClr val="FF0000"/>
                </a:solidFill>
              </a:rPr>
              <a:t>MIDDLE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1CC9864-5A67-3906-87E5-946B84E5B60C}"/>
              </a:ext>
            </a:extLst>
          </p:cNvPr>
          <p:cNvSpPr txBox="1"/>
          <p:nvPr/>
        </p:nvSpPr>
        <p:spPr>
          <a:xfrm>
            <a:off x="1571773" y="2754206"/>
            <a:ext cx="272670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/>
              <a:t>Symptoms,</a:t>
            </a:r>
            <a:r>
              <a:rPr lang="zh-CN" altLang="en-US" sz="2000" dirty="0"/>
              <a:t> </a:t>
            </a:r>
            <a:r>
              <a:rPr lang="en-US" altLang="zh-CN" sz="2000" dirty="0"/>
              <a:t>Labs,</a:t>
            </a:r>
            <a:r>
              <a:rPr lang="zh-CN" altLang="en-US" sz="2000" dirty="0"/>
              <a:t> </a:t>
            </a:r>
            <a:r>
              <a:rPr lang="en-US" altLang="zh-CN" sz="2000" dirty="0"/>
              <a:t>Tests</a:t>
            </a:r>
            <a:endParaRPr lang="en-US" sz="2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4E56A3D-50AF-CD21-711D-95D65B9E7E89}"/>
              </a:ext>
            </a:extLst>
          </p:cNvPr>
          <p:cNvSpPr txBox="1"/>
          <p:nvPr/>
        </p:nvSpPr>
        <p:spPr>
          <a:xfrm>
            <a:off x="1617971" y="3117910"/>
            <a:ext cx="26235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/>
              <a:t>Incomplete,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Evolving</a:t>
            </a:r>
            <a:endParaRPr lang="en-US" sz="20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BCBC55E-32FB-9CB0-0A6B-D850D33F8449}"/>
              </a:ext>
            </a:extLst>
          </p:cNvPr>
          <p:cNvSpPr txBox="1"/>
          <p:nvPr/>
        </p:nvSpPr>
        <p:spPr>
          <a:xfrm>
            <a:off x="8586528" y="2731798"/>
            <a:ext cx="22489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/>
              <a:t>Context</a:t>
            </a:r>
            <a:r>
              <a:rPr lang="zh-CN" altLang="en-US" sz="2000" dirty="0"/>
              <a:t> </a:t>
            </a:r>
            <a:r>
              <a:rPr lang="en-US" altLang="zh-CN" sz="2000" dirty="0">
                <a:sym typeface="Wingdings" pitchFamily="2" charset="2"/>
              </a:rPr>
              <a:t></a:t>
            </a:r>
            <a:r>
              <a:rPr lang="zh-CN" altLang="en-US" sz="2000" dirty="0">
                <a:sym typeface="Wingdings" pitchFamily="2" charset="2"/>
              </a:rPr>
              <a:t> </a:t>
            </a:r>
            <a:r>
              <a:rPr lang="en-US" altLang="zh-CN" sz="2000" dirty="0">
                <a:sym typeface="Wingdings" pitchFamily="2" charset="2"/>
              </a:rPr>
              <a:t>Actions</a:t>
            </a:r>
            <a:endParaRPr lang="en-US" sz="20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FEFF21D-8A30-DC0B-74B9-3D8B14F71651}"/>
              </a:ext>
            </a:extLst>
          </p:cNvPr>
          <p:cNvSpPr txBox="1"/>
          <p:nvPr/>
        </p:nvSpPr>
        <p:spPr>
          <a:xfrm>
            <a:off x="8979359" y="3105575"/>
            <a:ext cx="146328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/>
              <a:t>Predefined</a:t>
            </a:r>
            <a:endParaRPr lang="en-US" sz="2000" b="1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F7A10AB-C80C-8C88-17C3-2451110ED3EF}"/>
              </a:ext>
            </a:extLst>
          </p:cNvPr>
          <p:cNvCxnSpPr/>
          <p:nvPr/>
        </p:nvCxnSpPr>
        <p:spPr>
          <a:xfrm flipH="1">
            <a:off x="6715125" y="1689124"/>
            <a:ext cx="809310" cy="2690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64F91D65-1EBA-78B9-B7CF-D23392C59143}"/>
              </a:ext>
            </a:extLst>
          </p:cNvPr>
          <p:cNvSpPr txBox="1"/>
          <p:nvPr/>
        </p:nvSpPr>
        <p:spPr>
          <a:xfrm>
            <a:off x="7404792" y="1301129"/>
            <a:ext cx="42359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This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exactly</a:t>
            </a:r>
            <a:r>
              <a:rPr lang="zh-CN" altLang="en-US" dirty="0"/>
              <a:t> </a:t>
            </a:r>
            <a:r>
              <a:rPr lang="en-US" altLang="zh-CN" dirty="0"/>
              <a:t>where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doctor</a:t>
            </a:r>
            <a:r>
              <a:rPr lang="zh-CN" altLang="en-US" dirty="0"/>
              <a:t> </a:t>
            </a:r>
            <a:r>
              <a:rPr lang="en-US" altLang="zh-CN" dirty="0"/>
              <a:t>comes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76572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FDA21-A1FD-6D59-AA3B-B8F2F30622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91502"/>
            <a:ext cx="11018003" cy="1325563"/>
          </a:xfrm>
        </p:spPr>
        <p:txBody>
          <a:bodyPr>
            <a:noAutofit/>
          </a:bodyPr>
          <a:lstStyle/>
          <a:p>
            <a:r>
              <a:rPr lang="en-US" dirty="0"/>
              <a:t>W</a:t>
            </a:r>
            <a:r>
              <a:rPr lang="en-US" altLang="zh-CN" dirty="0"/>
              <a:t>hat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“Missing</a:t>
            </a:r>
            <a:r>
              <a:rPr lang="zh-CN" altLang="en-US" dirty="0"/>
              <a:t> </a:t>
            </a:r>
            <a:r>
              <a:rPr lang="en-US" altLang="zh-CN" dirty="0"/>
              <a:t>Middle”?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4CBBDC7-1641-7481-EBA9-1AC20017AEB0}"/>
              </a:ext>
            </a:extLst>
          </p:cNvPr>
          <p:cNvSpPr txBox="1"/>
          <p:nvPr/>
        </p:nvSpPr>
        <p:spPr>
          <a:xfrm>
            <a:off x="6934199" y="1298378"/>
            <a:ext cx="27159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GUIDELINE</a:t>
            </a:r>
            <a:endParaRPr lang="en-US" sz="28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8DF7728-7427-172E-B5F8-CA47772B5288}"/>
              </a:ext>
            </a:extLst>
          </p:cNvPr>
          <p:cNvSpPr txBox="1"/>
          <p:nvPr/>
        </p:nvSpPr>
        <p:spPr>
          <a:xfrm>
            <a:off x="838199" y="1396518"/>
            <a:ext cx="34804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REAL</a:t>
            </a:r>
            <a:r>
              <a:rPr lang="zh-CN" altLang="en-US" sz="2800" dirty="0"/>
              <a:t> </a:t>
            </a:r>
            <a:r>
              <a:rPr lang="en-US" altLang="zh-CN" sz="2800" dirty="0"/>
              <a:t>PATIENT</a:t>
            </a:r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BAE75F4-0D62-EEB9-D923-AA02586F158D}"/>
              </a:ext>
            </a:extLst>
          </p:cNvPr>
          <p:cNvSpPr txBox="1"/>
          <p:nvPr/>
        </p:nvSpPr>
        <p:spPr>
          <a:xfrm>
            <a:off x="838199" y="1843933"/>
            <a:ext cx="6260025" cy="3939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(Symptoms,</a:t>
            </a:r>
            <a:r>
              <a:rPr lang="zh-CN" altLang="en-US" dirty="0"/>
              <a:t> </a:t>
            </a:r>
            <a:r>
              <a:rPr lang="en-US" altLang="zh-CN" dirty="0"/>
              <a:t>Labs,</a:t>
            </a:r>
            <a:r>
              <a:rPr lang="zh-CN" altLang="en-US" dirty="0"/>
              <a:t> </a:t>
            </a:r>
            <a:r>
              <a:rPr lang="en-US" altLang="zh-CN" dirty="0"/>
              <a:t>Tests)</a:t>
            </a:r>
          </a:p>
          <a:p>
            <a:r>
              <a:rPr lang="en-US" altLang="zh-CN" sz="2400" dirty="0"/>
              <a:t>The</a:t>
            </a:r>
            <a:r>
              <a:rPr lang="zh-CN" altLang="en-US" sz="2400" dirty="0"/>
              <a:t> </a:t>
            </a:r>
            <a:r>
              <a:rPr lang="en-US" altLang="zh-CN" sz="2400" dirty="0"/>
              <a:t>interpretation</a:t>
            </a:r>
            <a:r>
              <a:rPr lang="zh-CN" altLang="en-US" sz="2400" dirty="0"/>
              <a:t> </a:t>
            </a:r>
            <a:r>
              <a:rPr lang="en-US" altLang="zh-CN" sz="2400" dirty="0"/>
              <a:t>of</a:t>
            </a:r>
            <a:r>
              <a:rPr lang="zh-CN" altLang="en-US" sz="2400" dirty="0"/>
              <a:t> </a:t>
            </a:r>
            <a:r>
              <a:rPr lang="en-US" altLang="zh-CN" sz="2400" dirty="0"/>
              <a:t>report</a:t>
            </a:r>
            <a:r>
              <a:rPr lang="zh-CN" altLang="en-US" sz="2400" dirty="0"/>
              <a:t> </a:t>
            </a:r>
            <a:r>
              <a:rPr lang="en-US" altLang="zh-CN" sz="2400" dirty="0"/>
              <a:t>findings</a:t>
            </a:r>
            <a:r>
              <a:rPr lang="zh-CN" altLang="en-US" sz="2400" dirty="0"/>
              <a:t> </a:t>
            </a:r>
            <a:r>
              <a:rPr lang="en-US" sz="2400" dirty="0">
                <a:solidFill>
                  <a:srgbClr val="FF0000"/>
                </a:solidFill>
              </a:rPr>
              <a:t>depends on </a:t>
            </a:r>
            <a:r>
              <a:rPr lang="en-US" sz="2400" dirty="0"/>
              <a:t>the working assumption and question. </a:t>
            </a:r>
            <a:endParaRPr lang="en-US" altLang="zh-CN" sz="2200" dirty="0"/>
          </a:p>
          <a:p>
            <a:r>
              <a:rPr lang="en-US" altLang="zh-CN" sz="2200" b="1" dirty="0"/>
              <a:t>Example</a:t>
            </a:r>
            <a:r>
              <a:rPr lang="zh-CN" altLang="en-US" sz="2200" dirty="0"/>
              <a:t> </a:t>
            </a:r>
            <a:r>
              <a:rPr lang="en-US" altLang="zh-CN" sz="2200" dirty="0"/>
              <a:t>(</a:t>
            </a:r>
            <a:r>
              <a:rPr lang="en-US" sz="2200" dirty="0"/>
              <a:t>Ultrasound</a:t>
            </a:r>
            <a:r>
              <a:rPr lang="en-US" altLang="zh-CN" sz="2200" dirty="0"/>
              <a:t>):</a:t>
            </a:r>
            <a:r>
              <a:rPr lang="zh-CN" altLang="en-US" sz="2200" dirty="0"/>
              <a:t> </a:t>
            </a:r>
            <a:r>
              <a:rPr lang="en-US" sz="2400" dirty="0"/>
              <a:t>Gallstones seen; CBD not visualized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/>
              <a:t>Meaning depends on the assumption </a:t>
            </a:r>
            <a:r>
              <a:rPr lang="en-US" altLang="zh-CN" sz="2200" b="1" dirty="0"/>
              <a:t>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dirty="0"/>
              <a:t>Biliary pancreatitis frame → etiologic clue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dirty="0"/>
              <a:t>Non-biliary frame → possibly incidental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/>
              <a:t>Coverage depends on the question</a:t>
            </a:r>
            <a:r>
              <a:rPr lang="en-US" altLang="zh-CN" sz="2200" b="1" dirty="0"/>
              <a:t>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dirty="0"/>
              <a:t>“Are gallstones present?” → answered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sz="2200" dirty="0"/>
              <a:t>“Is the CBD obstructed?” → unanswered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BF8A8B8-0910-D687-2182-082CE2D3F275}"/>
              </a:ext>
            </a:extLst>
          </p:cNvPr>
          <p:cNvSpPr txBox="1"/>
          <p:nvPr/>
        </p:nvSpPr>
        <p:spPr>
          <a:xfrm>
            <a:off x="6934199" y="1821598"/>
            <a:ext cx="5257801" cy="32008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(</a:t>
            </a:r>
            <a:r>
              <a:rPr lang="en-US" dirty="0"/>
              <a:t>C</a:t>
            </a:r>
            <a:r>
              <a:rPr lang="en-US" altLang="zh-CN" dirty="0"/>
              <a:t>ontext</a:t>
            </a:r>
            <a:r>
              <a:rPr lang="zh-CN" altLang="en-US" dirty="0"/>
              <a:t> </a:t>
            </a:r>
            <a:r>
              <a:rPr lang="en-US" altLang="zh-CN" dirty="0">
                <a:sym typeface="Wingdings" pitchFamily="2" charset="2"/>
              </a:rPr>
              <a:t></a:t>
            </a:r>
            <a:r>
              <a:rPr lang="zh-CN" altLang="en-US" dirty="0">
                <a:sym typeface="Wingdings" pitchFamily="2" charset="2"/>
              </a:rPr>
              <a:t> </a:t>
            </a:r>
            <a:r>
              <a:rPr lang="en-US" altLang="zh-CN" dirty="0">
                <a:sym typeface="Wingdings" pitchFamily="2" charset="2"/>
              </a:rPr>
              <a:t>Action)</a:t>
            </a:r>
            <a:endParaRPr lang="en-US" dirty="0"/>
          </a:p>
          <a:p>
            <a:r>
              <a:rPr lang="en-US" sz="2400" dirty="0"/>
              <a:t>A context </a:t>
            </a:r>
            <a:r>
              <a:rPr lang="en-US" sz="2400" dirty="0">
                <a:solidFill>
                  <a:srgbClr val="FF0000"/>
                </a:solidFill>
              </a:rPr>
              <a:t>mixes</a:t>
            </a:r>
            <a:r>
              <a:rPr lang="en-US" sz="2400" dirty="0"/>
              <a:t> facts with </a:t>
            </a:r>
            <a:r>
              <a:rPr lang="en-US" sz="2400" dirty="0">
                <a:solidFill>
                  <a:srgbClr val="FF0000"/>
                </a:solidFill>
              </a:rPr>
              <a:t>clinical judgment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/>
              <a:t>Observable facts</a:t>
            </a:r>
            <a:br>
              <a:rPr lang="en-US" sz="2200" dirty="0"/>
            </a:br>
            <a:r>
              <a:rPr lang="en-US" sz="2200" dirty="0"/>
              <a:t>RUQ pain · temperature · WBC count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/>
              <a:t>Judgment-dependent conditions</a:t>
            </a:r>
            <a:br>
              <a:rPr lang="en-US" sz="2200" dirty="0"/>
            </a:br>
            <a:r>
              <a:rPr lang="en-US" sz="2200" dirty="0"/>
              <a:t>“Suspected biliary disease”</a:t>
            </a:r>
            <a:br>
              <a:rPr lang="en-US" sz="2200" dirty="0"/>
            </a:br>
            <a:r>
              <a:rPr lang="en-US" sz="2200" dirty="0"/>
              <a:t>“Negative or equivocal ultrasound”</a:t>
            </a:r>
          </a:p>
          <a:p>
            <a:endParaRPr lang="en-US" sz="20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1B687B4-25F8-90C8-45DA-8F9BF76BBF3A}"/>
              </a:ext>
            </a:extLst>
          </p:cNvPr>
          <p:cNvSpPr txBox="1"/>
          <p:nvPr/>
        </p:nvSpPr>
        <p:spPr>
          <a:xfrm>
            <a:off x="1153331" y="6107809"/>
            <a:ext cx="1156173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</a:rPr>
              <a:t>Doctors</a:t>
            </a:r>
            <a:r>
              <a:rPr lang="en-US" sz="2400" b="1" dirty="0">
                <a:solidFill>
                  <a:srgbClr val="FF0000"/>
                </a:solidFill>
              </a:rPr>
              <a:t> provide the epistemic bridge: </a:t>
            </a:r>
            <a:r>
              <a:rPr lang="en-US" sz="2400" b="1" dirty="0"/>
              <a:t>they decide what the evidence means, which context applies, and what remains unanswered.</a:t>
            </a:r>
          </a:p>
        </p:txBody>
      </p:sp>
      <p:sp>
        <p:nvSpPr>
          <p:cNvPr id="26" name="Right Brace 25">
            <a:extLst>
              <a:ext uri="{FF2B5EF4-FFF2-40B4-BE49-F238E27FC236}">
                <a16:creationId xmlns:a16="http://schemas.microsoft.com/office/drawing/2014/main" id="{A6ABEF8C-EE14-F59C-5321-F62D03905095}"/>
              </a:ext>
            </a:extLst>
          </p:cNvPr>
          <p:cNvSpPr/>
          <p:nvPr/>
        </p:nvSpPr>
        <p:spPr>
          <a:xfrm rot="5400000">
            <a:off x="5886042" y="2307857"/>
            <a:ext cx="388833" cy="7139470"/>
          </a:xfrm>
          <a:prstGeom prst="rightBrac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36368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5413C7-49E4-D738-6E02-0DA6E82276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Making the epistemic bridge explicit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C82C88-C390-A3D3-73AC-B93D381914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2064" y="1516062"/>
            <a:ext cx="7119936" cy="46672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b="1" dirty="0"/>
              <a:t>NOW:</a:t>
            </a:r>
            <a:r>
              <a:rPr lang="zh-CN" altLang="en-US" b="1" dirty="0"/>
              <a:t>  </a:t>
            </a:r>
            <a:r>
              <a:rPr lang="en-US" altLang="zh-CN" b="1" dirty="0"/>
              <a:t>Explicit</a:t>
            </a:r>
            <a:r>
              <a:rPr lang="zh-CN" altLang="en-US" b="1" dirty="0"/>
              <a:t> </a:t>
            </a:r>
            <a:r>
              <a:rPr lang="en-US" altLang="zh-CN" b="1" dirty="0"/>
              <a:t>A/Q/C</a:t>
            </a:r>
            <a:r>
              <a:rPr lang="zh-CN" altLang="en-US" b="1" dirty="0"/>
              <a:t> </a:t>
            </a:r>
            <a:r>
              <a:rPr lang="en-US" altLang="zh-CN" b="1" dirty="0"/>
              <a:t>state</a:t>
            </a:r>
            <a:r>
              <a:rPr lang="zh-CN" altLang="en-US" b="1" dirty="0"/>
              <a:t> </a:t>
            </a:r>
            <a:endParaRPr lang="en-US" altLang="zh-CN" b="1" dirty="0"/>
          </a:p>
          <a:p>
            <a:pPr marL="0" indent="0">
              <a:buNone/>
            </a:pPr>
            <a:r>
              <a:rPr lang="en-US" altLang="zh-CN" sz="2400" dirty="0"/>
              <a:t>A - ASSUMPTION</a:t>
            </a:r>
          </a:p>
          <a:p>
            <a:pPr marL="0" indent="0">
              <a:buNone/>
            </a:pPr>
            <a:r>
              <a:rPr lang="en-US" altLang="zh-CN" sz="2200" dirty="0"/>
              <a:t>What proposition currently organizes the workup?</a:t>
            </a:r>
          </a:p>
          <a:p>
            <a:pPr marL="0" indent="0">
              <a:buNone/>
            </a:pPr>
            <a:r>
              <a:rPr lang="en-US" altLang="zh-CN" sz="2200" dirty="0"/>
              <a:t>          ↓ defines</a:t>
            </a:r>
          </a:p>
          <a:p>
            <a:pPr marL="0" indent="0">
              <a:buNone/>
            </a:pPr>
            <a:r>
              <a:rPr lang="en-US" altLang="zh-CN" sz="2400" dirty="0"/>
              <a:t>Q - QUESTION</a:t>
            </a:r>
          </a:p>
          <a:p>
            <a:pPr marL="0" indent="0">
              <a:buNone/>
            </a:pPr>
            <a:r>
              <a:rPr lang="en-US" altLang="zh-CN" sz="2200" dirty="0"/>
              <a:t>What question must be resolved under A and required answer dimensions</a:t>
            </a:r>
          </a:p>
          <a:p>
            <a:pPr marL="0" indent="0">
              <a:buNone/>
            </a:pPr>
            <a:r>
              <a:rPr lang="en-US" altLang="zh-CN" sz="2200" dirty="0"/>
              <a:t>         ↓</a:t>
            </a:r>
            <a:r>
              <a:rPr lang="zh-CN" altLang="en-US" sz="2200" dirty="0"/>
              <a:t> </a:t>
            </a:r>
            <a:r>
              <a:rPr lang="en-US" altLang="zh-CN" sz="2200" dirty="0"/>
              <a:t>assessed against all available evidence</a:t>
            </a:r>
          </a:p>
          <a:p>
            <a:pPr marL="0" indent="0">
              <a:buNone/>
            </a:pPr>
            <a:r>
              <a:rPr lang="en-US" altLang="zh-CN" sz="2400" dirty="0"/>
              <a:t>C -</a:t>
            </a:r>
            <a:r>
              <a:rPr lang="zh-CN" altLang="en-US" sz="2400" dirty="0"/>
              <a:t> </a:t>
            </a:r>
            <a:r>
              <a:rPr lang="en-US" altLang="zh-CN" sz="2400" dirty="0"/>
              <a:t>COVERAGE</a:t>
            </a:r>
          </a:p>
          <a:p>
            <a:pPr marL="0" indent="0">
              <a:buNone/>
            </a:pPr>
            <a:r>
              <a:rPr lang="en-US" altLang="zh-CN" sz="2200" dirty="0"/>
              <a:t>Which answer requirements of Q have been covered, and which remain open? </a:t>
            </a:r>
          </a:p>
          <a:p>
            <a:pPr marL="0" indent="0">
              <a:buNone/>
            </a:pPr>
            <a:endParaRPr lang="en-US" altLang="zh-CN" sz="24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0A14F32-E01A-7FE5-53DB-20815DE1588E}"/>
              </a:ext>
            </a:extLst>
          </p:cNvPr>
          <p:cNvSpPr txBox="1">
            <a:spLocks/>
          </p:cNvSpPr>
          <p:nvPr/>
        </p:nvSpPr>
        <p:spPr>
          <a:xfrm>
            <a:off x="838200" y="1516062"/>
            <a:ext cx="44672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b="1" dirty="0"/>
              <a:t>PREVIOUSLY:</a:t>
            </a:r>
            <a:r>
              <a:rPr lang="zh-CN" altLang="en-US" b="1" dirty="0"/>
              <a:t> </a:t>
            </a:r>
            <a:r>
              <a:rPr lang="en-US" b="1" dirty="0"/>
              <a:t>Agent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2400" dirty="0"/>
              <a:t>Patient record + guideline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2400" dirty="0"/>
              <a:t>                       ↓ 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altLang="zh-CN" sz="2400" dirty="0"/>
              <a:t>          SFT/RL</a:t>
            </a:r>
            <a:r>
              <a:rPr lang="zh-CN" altLang="en-US" sz="2400" dirty="0"/>
              <a:t> </a:t>
            </a:r>
            <a:r>
              <a:rPr lang="en-US" altLang="zh-CN" sz="2400" dirty="0"/>
              <a:t>Agent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2400" dirty="0"/>
              <a:t>                        ↓ 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altLang="zh-CN" sz="2400" dirty="0"/>
              <a:t>Predict</a:t>
            </a:r>
            <a:r>
              <a:rPr lang="zh-CN" altLang="en-US" sz="2400" dirty="0"/>
              <a:t> </a:t>
            </a:r>
            <a:r>
              <a:rPr lang="en-US" altLang="zh-CN" sz="2400" dirty="0"/>
              <a:t>action</a:t>
            </a:r>
            <a:r>
              <a:rPr lang="zh-CN" altLang="en-US" sz="2400" dirty="0"/>
              <a:t> </a:t>
            </a:r>
            <a:r>
              <a:rPr lang="en-US" altLang="zh-CN" sz="2400" dirty="0"/>
              <a:t>or</a:t>
            </a:r>
            <a:r>
              <a:rPr lang="zh-CN" altLang="en-US" sz="2400" dirty="0"/>
              <a:t> </a:t>
            </a:r>
            <a:r>
              <a:rPr lang="en-US" altLang="zh-CN" sz="2400" dirty="0"/>
              <a:t>deviation</a:t>
            </a:r>
            <a:endParaRPr lang="en-US" altLang="zh-CN" b="1" dirty="0"/>
          </a:p>
          <a:p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absorb</a:t>
            </a:r>
            <a:r>
              <a:rPr lang="zh-CN" altLang="en-US" dirty="0"/>
              <a:t> </a:t>
            </a:r>
            <a:r>
              <a:rPr lang="en-US" altLang="zh-CN" dirty="0"/>
              <a:t>t</a:t>
            </a:r>
            <a:r>
              <a:rPr lang="en-US" dirty="0"/>
              <a:t>h</a:t>
            </a:r>
            <a:r>
              <a:rPr lang="en-US" altLang="zh-CN" dirty="0"/>
              <a:t>is</a:t>
            </a:r>
            <a:r>
              <a:rPr lang="en-US" dirty="0"/>
              <a:t> bridge implicitly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BFE1A2-7E5F-A5AB-6F6E-2550F22FF9AB}"/>
              </a:ext>
            </a:extLst>
          </p:cNvPr>
          <p:cNvSpPr txBox="1"/>
          <p:nvPr/>
        </p:nvSpPr>
        <p:spPr>
          <a:xfrm>
            <a:off x="1138239" y="6262042"/>
            <a:ext cx="11353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New evidence </a:t>
            </a:r>
            <a:r>
              <a:rPr lang="en-US" altLang="zh-CN" sz="2400" dirty="0">
                <a:sym typeface="Wingdings" pitchFamily="2" charset="2"/>
              </a:rPr>
              <a:t></a:t>
            </a:r>
            <a:r>
              <a:rPr lang="en-US" sz="2400" dirty="0"/>
              <a:t> update C</a:t>
            </a:r>
            <a:r>
              <a:rPr lang="zh-CN" altLang="en-US" sz="2400" dirty="0"/>
              <a:t> </a:t>
            </a:r>
            <a:r>
              <a:rPr lang="en-US" altLang="zh-CN" sz="2400" dirty="0">
                <a:sym typeface="Wingdings" pitchFamily="2" charset="2"/>
              </a:rPr>
              <a:t></a:t>
            </a:r>
            <a:r>
              <a:rPr lang="zh-CN" altLang="en-US" sz="2400" dirty="0">
                <a:sym typeface="Wingdings" pitchFamily="2" charset="2"/>
              </a:rPr>
              <a:t> </a:t>
            </a:r>
            <a:r>
              <a:rPr lang="en-US" sz="2400" dirty="0"/>
              <a:t>reassess A and Q </a:t>
            </a:r>
            <a:r>
              <a:rPr lang="en-US" altLang="zh-CN" sz="2400" dirty="0">
                <a:sym typeface="Wingdings" pitchFamily="2" charset="2"/>
              </a:rPr>
              <a:t></a:t>
            </a:r>
            <a:r>
              <a:rPr lang="zh-CN" altLang="en-US" sz="2400" dirty="0">
                <a:sym typeface="Wingdings" pitchFamily="2" charset="2"/>
              </a:rPr>
              <a:t> </a:t>
            </a:r>
            <a:r>
              <a:rPr lang="en-US" sz="2400" dirty="0"/>
              <a:t>remap guideline context </a:t>
            </a:r>
            <a:r>
              <a:rPr lang="en-US" altLang="zh-CN" sz="2400" dirty="0">
                <a:sym typeface="Wingdings" pitchFamily="2" charset="2"/>
              </a:rPr>
              <a:t></a:t>
            </a:r>
            <a:r>
              <a:rPr lang="zh-CN" altLang="en-US" sz="2400" dirty="0">
                <a:sym typeface="Wingdings" pitchFamily="2" charset="2"/>
              </a:rPr>
              <a:t> </a:t>
            </a:r>
            <a:r>
              <a:rPr lang="en-US" sz="2400" dirty="0"/>
              <a:t>action</a:t>
            </a:r>
          </a:p>
        </p:txBody>
      </p:sp>
      <p:cxnSp>
        <p:nvCxnSpPr>
          <p:cNvPr id="7" name="Curved Connector 6">
            <a:extLst>
              <a:ext uri="{FF2B5EF4-FFF2-40B4-BE49-F238E27FC236}">
                <a16:creationId xmlns:a16="http://schemas.microsoft.com/office/drawing/2014/main" id="{BC88C4B2-C553-A85F-504C-FBFBCA9DB340}"/>
              </a:ext>
            </a:extLst>
          </p:cNvPr>
          <p:cNvCxnSpPr>
            <a:cxnSpLocks/>
          </p:cNvCxnSpPr>
          <p:nvPr/>
        </p:nvCxnSpPr>
        <p:spPr>
          <a:xfrm rot="5400000">
            <a:off x="2532861" y="3665688"/>
            <a:ext cx="4435473" cy="642934"/>
          </a:xfrm>
          <a:prstGeom prst="curvedConnector3">
            <a:avLst>
              <a:gd name="adj1" fmla="val -895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17338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51847C-28C8-444E-2423-8FD0381EF5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</a:t>
            </a:r>
            <a:r>
              <a:rPr lang="en-US" altLang="zh-CN" dirty="0"/>
              <a:t>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389864-C421-7926-0298-00B1DB32A6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Goal: </a:t>
            </a:r>
          </a:p>
        </p:txBody>
      </p:sp>
    </p:spTree>
    <p:extLst>
      <p:ext uri="{BB962C8B-B14F-4D97-AF65-F5344CB8AC3E}">
        <p14:creationId xmlns:p14="http://schemas.microsoft.com/office/powerpoint/2010/main" val="34982916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1008</TotalTime>
  <Words>440</Words>
  <Application>Microsoft Macintosh PowerPoint</Application>
  <PresentationFormat>Widescreen</PresentationFormat>
  <Paragraphs>54</Paragraphs>
  <Slides>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Wingdings</vt:lpstr>
      <vt:lpstr>Office Theme</vt:lpstr>
      <vt:lpstr>PowerPoint Presentation</vt:lpstr>
      <vt:lpstr>Deviation is a signal – not the underlying problem</vt:lpstr>
      <vt:lpstr>What is the “Missing Middle”?</vt:lpstr>
      <vt:lpstr>Making the epistemic bridge explicit</vt:lpstr>
      <vt:lpstr>Plan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Duruo Li</dc:creator>
  <cp:lastModifiedBy>Duruo Li</cp:lastModifiedBy>
  <cp:revision>17</cp:revision>
  <dcterms:created xsi:type="dcterms:W3CDTF">2026-08-15T22:55:22Z</dcterms:created>
  <dcterms:modified xsi:type="dcterms:W3CDTF">2026-08-16T15:43:57Z</dcterms:modified>
</cp:coreProperties>
</file>